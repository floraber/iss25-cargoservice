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Helvetica World" panose="020B0604020202020204" charset="-128"/>
      <p:regular r:id="rId9"/>
    </p:embeddedFont>
    <p:embeddedFont>
      <p:font typeface="Helvetica World Bold" panose="020B0604020202020204" charset="-128"/>
      <p:regular r:id="rId10"/>
    </p:embeddedFont>
    <p:embeddedFont>
      <p:font typeface="Georgia Pro Condense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95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2700"/>
            <a:ext cx="11201400" cy="10299700"/>
            <a:chOff x="0" y="0"/>
            <a:chExt cx="963348" cy="88579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3348" cy="885799"/>
            </a:xfrm>
            <a:custGeom>
              <a:avLst/>
              <a:gdLst/>
              <a:ahLst/>
              <a:cxnLst/>
              <a:rect l="l" t="t" r="r" b="b"/>
              <a:pathLst>
                <a:path w="963348" h="885799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3E536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868150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6" name="Freeform 6"/>
          <p:cNvSpPr/>
          <p:nvPr/>
        </p:nvSpPr>
        <p:spPr>
          <a:xfrm rot="-3117037">
            <a:off x="8947742" y="765609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1"/>
                </a:lnTo>
                <a:lnTo>
                  <a:pt x="0" y="1859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" name="TextBox 7"/>
          <p:cNvSpPr txBox="1"/>
          <p:nvPr/>
        </p:nvSpPr>
        <p:spPr>
          <a:xfrm>
            <a:off x="1028700" y="1304925"/>
            <a:ext cx="9754495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Cargoservice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279821"/>
            <a:ext cx="7845028" cy="1820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Ingneria dei sistemi software </a:t>
            </a:r>
          </a:p>
          <a:p>
            <a:pPr algn="l">
              <a:lnSpc>
                <a:spcPts val="7279"/>
              </a:lnSpc>
            </a:pPr>
            <a:r>
              <a:rPr lang="en-US" sz="519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2024/2025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104703"/>
            <a:ext cx="2890123" cy="213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Progetto a cura di: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Fasano Andrea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Florian Alberto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Sampaoli Giacomo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3782219"/>
            <a:ext cx="4007657" cy="512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Sprint0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750" y="5623401"/>
            <a:ext cx="4007657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Analisi dei requisiti forniti dal committente;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Costruzione del modello di riferimento;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Organizzazione Sprint futuri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979207" y="3782219"/>
            <a:ext cx="4010025" cy="512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Sprint1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614065" y="3738563"/>
            <a:ext cx="4003106" cy="512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Sprint3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79207" y="5623401"/>
            <a:ext cx="4010025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Realizzazione del core business del sistema;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08857" y="5623401"/>
            <a:ext cx="400310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Realizzazione della GUI;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Integrazione con il sistema;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94032" y="3782219"/>
            <a:ext cx="3807849" cy="512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Sprint2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94821" y="5623401"/>
            <a:ext cx="4009236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Realizzazione del componente Sensor;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Integrazione con il core business;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990600" y="4947126"/>
            <a:ext cx="17607376" cy="0"/>
          </a:xfrm>
          <a:prstGeom prst="line">
            <a:avLst/>
          </a:prstGeom>
          <a:ln w="19050" cap="flat">
            <a:solidFill>
              <a:srgbClr val="8AB6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grpSp>
        <p:nvGrpSpPr>
          <p:cNvPr id="11" name="Group 11"/>
          <p:cNvGrpSpPr/>
          <p:nvPr/>
        </p:nvGrpSpPr>
        <p:grpSpPr>
          <a:xfrm>
            <a:off x="666750" y="4785201"/>
            <a:ext cx="323850" cy="323850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80786" y="4785201"/>
            <a:ext cx="323850" cy="323850"/>
            <a:chOff x="0" y="0"/>
            <a:chExt cx="6350000" cy="6350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294821" y="4785201"/>
            <a:ext cx="323850" cy="323850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608857" y="4785201"/>
            <a:ext cx="323850" cy="323850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66750" y="809625"/>
            <a:ext cx="16954500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Organizzazione del progetto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05699" y="0"/>
            <a:ext cx="6982301" cy="10287000"/>
          </a:xfrm>
          <a:custGeom>
            <a:avLst/>
            <a:gdLst/>
            <a:ahLst/>
            <a:cxnLst/>
            <a:rect l="l" t="t" r="r" b="b"/>
            <a:pathLst>
              <a:path w="6982301" h="10287000">
                <a:moveTo>
                  <a:pt x="0" y="0"/>
                </a:moveTo>
                <a:lnTo>
                  <a:pt x="6982301" y="0"/>
                </a:lnTo>
                <a:lnTo>
                  <a:pt x="698230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" name="Group 3"/>
          <p:cNvGrpSpPr/>
          <p:nvPr/>
        </p:nvGrpSpPr>
        <p:grpSpPr>
          <a:xfrm>
            <a:off x="356774" y="7508916"/>
            <a:ext cx="8951921" cy="323850"/>
            <a:chOff x="0" y="0"/>
            <a:chExt cx="11935895" cy="431800"/>
          </a:xfrm>
        </p:grpSpPr>
        <p:sp>
          <p:nvSpPr>
            <p:cNvPr id="4" name="AutoShape 4"/>
            <p:cNvSpPr/>
            <p:nvPr/>
          </p:nvSpPr>
          <p:spPr>
            <a:xfrm>
              <a:off x="431800" y="215900"/>
              <a:ext cx="11411610" cy="0"/>
            </a:xfrm>
            <a:prstGeom prst="line">
              <a:avLst/>
            </a:prstGeom>
            <a:ln w="25400" cap="flat">
              <a:solidFill>
                <a:srgbClr val="8AB6D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it-IT"/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0"/>
              <a:ext cx="431800" cy="431800"/>
              <a:chOff x="0" y="0"/>
              <a:chExt cx="6350000" cy="6350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5752047" y="0"/>
              <a:ext cx="431800" cy="431800"/>
              <a:chOff x="0" y="0"/>
              <a:chExt cx="6350000" cy="6350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1504095" y="0"/>
              <a:ext cx="431800" cy="431800"/>
              <a:chOff x="0" y="0"/>
              <a:chExt cx="6350000" cy="6350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66750" y="809625"/>
            <a:ext cx="16954500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8000"/>
              </a:lnSpc>
            </a:pPr>
            <a:r>
              <a:rPr lang="en-US" sz="800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6684" y="2297289"/>
            <a:ext cx="6068854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</a:pPr>
            <a:r>
              <a:rPr lang="en-US" sz="3000" spc="-4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Analisi dei requisiti: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spc="-4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Cosa si capisce sul sistema dalla sola analisi dei requisiti?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774" y="5403165"/>
            <a:ext cx="350079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 spc="-44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Divisione degli Sprint: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774" y="7083466"/>
            <a:ext cx="77533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Sprint1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774" y="7842250"/>
            <a:ext cx="2951480" cy="2120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Core Business: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rappresentazione della hold;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basicrobot, cargorobot;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productservice;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cargoservice;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45067" y="7842250"/>
            <a:ext cx="77533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Sprint2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45067" y="6378616"/>
            <a:ext cx="1159550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Sensor: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Sonar;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Led;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56332" y="7083466"/>
            <a:ext cx="77533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Sprint3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28140" y="7842291"/>
            <a:ext cx="43172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15677" y="2445489"/>
            <a:ext cx="11301259" cy="6130933"/>
          </a:xfrm>
          <a:custGeom>
            <a:avLst/>
            <a:gdLst/>
            <a:ahLst/>
            <a:cxnLst/>
            <a:rect l="l" t="t" r="r" b="b"/>
            <a:pathLst>
              <a:path w="11301259" h="6130933">
                <a:moveTo>
                  <a:pt x="0" y="0"/>
                </a:moveTo>
                <a:lnTo>
                  <a:pt x="11301259" y="0"/>
                </a:lnTo>
                <a:lnTo>
                  <a:pt x="11301259" y="6130933"/>
                </a:lnTo>
                <a:lnTo>
                  <a:pt x="0" y="6130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50" y="2331189"/>
            <a:ext cx="6048927" cy="652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Punti chiave: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Rappresentazione della hold;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Movimento basicrobot;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Posizioni rilevanti;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Productservice e gestione hold;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Test;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>
              <a:solidFill>
                <a:srgbClr val="F5F3F3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6275" y="1676400"/>
            <a:ext cx="11670949" cy="7381875"/>
          </a:xfrm>
          <a:custGeom>
            <a:avLst/>
            <a:gdLst/>
            <a:ahLst/>
            <a:cxnLst/>
            <a:rect l="l" t="t" r="r" b="b"/>
            <a:pathLst>
              <a:path w="11670949" h="7381875">
                <a:moveTo>
                  <a:pt x="0" y="0"/>
                </a:moveTo>
                <a:lnTo>
                  <a:pt x="11670949" y="0"/>
                </a:lnTo>
                <a:lnTo>
                  <a:pt x="11670949" y="7381875"/>
                </a:lnTo>
                <a:lnTo>
                  <a:pt x="0" y="73818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49" y="2476500"/>
            <a:ext cx="6886575" cy="511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Modellazione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Sensor;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Sonar;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Led;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Deployment;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0"/>
            <a:ext cx="8991600" cy="3352800"/>
            <a:chOff x="0" y="0"/>
            <a:chExt cx="2368158" cy="8830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68158" cy="883042"/>
            </a:xfrm>
            <a:custGeom>
              <a:avLst/>
              <a:gdLst/>
              <a:ahLst/>
              <a:cxnLst/>
              <a:rect l="l" t="t" r="r" b="b"/>
              <a:pathLst>
                <a:path w="2368158" h="883042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273C4A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368158" cy="9401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6067662" y="690455"/>
            <a:ext cx="11273532" cy="8906091"/>
          </a:xfrm>
          <a:custGeom>
            <a:avLst/>
            <a:gdLst/>
            <a:ahLst/>
            <a:cxnLst/>
            <a:rect l="l" t="t" r="r" b="b"/>
            <a:pathLst>
              <a:path w="11273532" h="8906091">
                <a:moveTo>
                  <a:pt x="0" y="0"/>
                </a:moveTo>
                <a:lnTo>
                  <a:pt x="11273533" y="0"/>
                </a:lnTo>
                <a:lnTo>
                  <a:pt x="11273533" y="8906090"/>
                </a:lnTo>
                <a:lnTo>
                  <a:pt x="0" y="8906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6" name="TextBox 6"/>
          <p:cNvSpPr txBox="1"/>
          <p:nvPr/>
        </p:nvSpPr>
        <p:spPr>
          <a:xfrm>
            <a:off x="666750" y="809625"/>
            <a:ext cx="6886575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533650"/>
            <a:ext cx="5400912" cy="581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Punti chiave: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Modellazione GUI;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Estrazione stato hold;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Visualizzazione stato hold;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Test;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Deployment;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>
              <a:solidFill>
                <a:srgbClr val="F5F3F3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858125" cy="10287000"/>
            <a:chOff x="0" y="0"/>
            <a:chExt cx="1031988" cy="1350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31988" cy="1350966"/>
            </a:xfrm>
            <a:custGeom>
              <a:avLst/>
              <a:gdLst/>
              <a:ahLst/>
              <a:cxnLst/>
              <a:rect l="l" t="t" r="r" b="b"/>
              <a:pathLst>
                <a:path w="1031988" h="1350966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4A90D9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52512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332024" y="4282046"/>
            <a:ext cx="8317491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Grazie!</a:t>
            </a:r>
          </a:p>
        </p:txBody>
      </p:sp>
      <p:sp>
        <p:nvSpPr>
          <p:cNvPr id="7" name="Freeform 7"/>
          <p:cNvSpPr/>
          <p:nvPr/>
        </p:nvSpPr>
        <p:spPr>
          <a:xfrm rot="-3117037">
            <a:off x="5418783" y="795272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173</Words>
  <Application>Microsoft Office PowerPoint</Application>
  <PresentationFormat>Personalizzato</PresentationFormat>
  <Paragraphs>58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Helvetica World</vt:lpstr>
      <vt:lpstr>Calibri</vt:lpstr>
      <vt:lpstr>Arial</vt:lpstr>
      <vt:lpstr>Georgia Pro Condensed</vt:lpstr>
      <vt:lpstr>Helvetica World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Identificazione degli obiettivi di progetto</dc:title>
  <cp:lastModifiedBy>Andrea Fasano - andrea.fasano3@studio.unibo.it</cp:lastModifiedBy>
  <cp:revision>2</cp:revision>
  <dcterms:created xsi:type="dcterms:W3CDTF">2006-08-16T00:00:00Z</dcterms:created>
  <dcterms:modified xsi:type="dcterms:W3CDTF">2025-11-24T14:37:00Z</dcterms:modified>
  <dc:identifier>DAG5mr3ZiBA</dc:identifier>
</cp:coreProperties>
</file>