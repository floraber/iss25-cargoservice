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Georgia Pro Condensed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12700"/>
            <a:ext cx="11201400" cy="10299700"/>
            <a:chOff x="0" y="0"/>
            <a:chExt cx="963348" cy="88579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63348" cy="885799"/>
            </a:xfrm>
            <a:custGeom>
              <a:avLst/>
              <a:gdLst/>
              <a:ahLst/>
              <a:cxnLst/>
              <a:rect l="l" t="t" r="r" b="b"/>
              <a:pathLst>
                <a:path w="963348" h="885799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3E5362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868150" y="666750"/>
            <a:ext cx="5753100" cy="8953500"/>
            <a:chOff x="0" y="0"/>
            <a:chExt cx="814724" cy="126794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4724" cy="1267949"/>
            </a:xfrm>
            <a:custGeom>
              <a:avLst/>
              <a:gdLst/>
              <a:ahLst/>
              <a:cxnLst/>
              <a:rect l="l" t="t" r="r" b="b"/>
              <a:pathLst>
                <a:path w="814724" h="1267949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t="-199" b="-199"/>
              </a:stretch>
            </a:blipFill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</p:grpSp>
      <p:sp>
        <p:nvSpPr>
          <p:cNvPr id="6" name="Freeform 6"/>
          <p:cNvSpPr/>
          <p:nvPr/>
        </p:nvSpPr>
        <p:spPr>
          <a:xfrm rot="-3117037">
            <a:off x="8947742" y="7656091"/>
            <a:ext cx="2112604" cy="1859092"/>
          </a:xfrm>
          <a:custGeom>
            <a:avLst/>
            <a:gdLst/>
            <a:ahLst/>
            <a:cxnLst/>
            <a:rect l="l" t="t" r="r" b="b"/>
            <a:pathLst>
              <a:path w="2112604" h="1859092">
                <a:moveTo>
                  <a:pt x="0" y="0"/>
                </a:moveTo>
                <a:lnTo>
                  <a:pt x="2112604" y="0"/>
                </a:lnTo>
                <a:lnTo>
                  <a:pt x="2112604" y="1859091"/>
                </a:lnTo>
                <a:lnTo>
                  <a:pt x="0" y="18590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>
              <a:latin typeface="Georgia Pro Condensed" panose="020B0604020202020204" charset="0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1304925"/>
            <a:ext cx="9754495" cy="1999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956"/>
              </a:lnSpc>
            </a:pPr>
            <a:r>
              <a:rPr lang="en-US" sz="14956" spc="-523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Cargoservice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4279821"/>
            <a:ext cx="7845028" cy="2728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Ingegneria</a:t>
            </a:r>
            <a:r>
              <a:rPr lang="en-US" sz="519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519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dei</a:t>
            </a:r>
            <a:r>
              <a:rPr lang="en-US" sz="519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519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sistemi</a:t>
            </a:r>
            <a:r>
              <a:rPr lang="en-US" sz="519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software </a:t>
            </a:r>
          </a:p>
          <a:p>
            <a:pPr algn="l">
              <a:lnSpc>
                <a:spcPts val="7279"/>
              </a:lnSpc>
            </a:pPr>
            <a:r>
              <a:rPr lang="en-US" sz="519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2024/2025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7104703"/>
            <a:ext cx="3314700" cy="21088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Progetto a cura di:</a:t>
            </a:r>
          </a:p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Fasano Andrea</a:t>
            </a:r>
          </a:p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Florian Alberto</a:t>
            </a:r>
          </a:p>
          <a:p>
            <a:pPr algn="l">
              <a:lnSpc>
                <a:spcPts val="4200"/>
              </a:lnSpc>
            </a:pPr>
            <a:r>
              <a:rPr lang="en-US" sz="3000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Sampaoli</a:t>
            </a:r>
            <a:r>
              <a:rPr lang="en-US" sz="3000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Giacomo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3782219"/>
            <a:ext cx="4007657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 spc="-44">
                <a:solidFill>
                  <a:srgbClr val="F5F3F3"/>
                </a:solidFill>
                <a:latin typeface="Georgia Pro Condensed" panose="020B0604020202020204" charset="0"/>
                <a:ea typeface="Helvetica World Bold"/>
                <a:cs typeface="Helvetica World Bold"/>
                <a:sym typeface="Helvetica World Bold"/>
              </a:rPr>
              <a:t>Sprint0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66750" y="5623401"/>
            <a:ext cx="4007657" cy="1768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analisi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dei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requisiti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forniti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dal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committente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,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costruzione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del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modello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di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riferimento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,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organizzazione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Sprint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futuri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979207" y="3782219"/>
            <a:ext cx="4010025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 spc="-44">
                <a:solidFill>
                  <a:srgbClr val="F5F3F3"/>
                </a:solidFill>
                <a:latin typeface="Georgia Pro Condensed" panose="020B0604020202020204" charset="0"/>
                <a:ea typeface="Helvetica World Bold"/>
                <a:cs typeface="Helvetica World Bold"/>
                <a:sym typeface="Helvetica World Bold"/>
              </a:rPr>
              <a:t>Sprint1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614065" y="3738563"/>
            <a:ext cx="4003106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 spc="-44">
                <a:solidFill>
                  <a:srgbClr val="F5F3F3"/>
                </a:solidFill>
                <a:latin typeface="Georgia Pro Condensed" panose="020B0604020202020204" charset="0"/>
                <a:ea typeface="Helvetica World Bold"/>
                <a:cs typeface="Helvetica World Bold"/>
                <a:sym typeface="Helvetica World Bold"/>
              </a:rPr>
              <a:t>Sprint3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979207" y="5623401"/>
            <a:ext cx="4010025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realizzazione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del core business del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sistema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608857" y="5623401"/>
            <a:ext cx="4003106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realizzazione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della GUI,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integrazione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con il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sistema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294032" y="3782219"/>
            <a:ext cx="3807849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 spc="-44">
                <a:solidFill>
                  <a:srgbClr val="F5F3F3"/>
                </a:solidFill>
                <a:latin typeface="Georgia Pro Condensed" panose="020B0604020202020204" charset="0"/>
                <a:ea typeface="Helvetica World Bold"/>
                <a:cs typeface="Helvetica World Bold"/>
                <a:sym typeface="Helvetica World Bold"/>
              </a:rPr>
              <a:t>Sprint2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94821" y="5623401"/>
            <a:ext cx="4009236" cy="104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realizzazione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del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componente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Sensor,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integrazione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con il core business.</a:t>
            </a:r>
          </a:p>
        </p:txBody>
      </p:sp>
      <p:sp>
        <p:nvSpPr>
          <p:cNvPr id="10" name="AutoShape 10"/>
          <p:cNvSpPr/>
          <p:nvPr/>
        </p:nvSpPr>
        <p:spPr>
          <a:xfrm>
            <a:off x="990600" y="4947126"/>
            <a:ext cx="17607376" cy="0"/>
          </a:xfrm>
          <a:prstGeom prst="line">
            <a:avLst/>
          </a:prstGeom>
          <a:ln w="19050" cap="flat">
            <a:solidFill>
              <a:srgbClr val="8AB6D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it-IT">
              <a:latin typeface="Georgia Pro Condensed" panose="020B0604020202020204" charset="0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666750" y="4785201"/>
            <a:ext cx="323850" cy="323850"/>
            <a:chOff x="0" y="0"/>
            <a:chExt cx="6350000" cy="6350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AB6D6"/>
            </a:solidFill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980786" y="4785201"/>
            <a:ext cx="323850" cy="323850"/>
            <a:chOff x="0" y="0"/>
            <a:chExt cx="6350000" cy="6350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AB6D6"/>
            </a:solidFill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294821" y="4785201"/>
            <a:ext cx="323850" cy="323850"/>
            <a:chOff x="0" y="0"/>
            <a:chExt cx="6350000" cy="635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AB6D6"/>
            </a:solidFill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608857" y="4785201"/>
            <a:ext cx="323850" cy="323850"/>
            <a:chOff x="0" y="0"/>
            <a:chExt cx="6350000" cy="6350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AB6D6"/>
            </a:solidFill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66750" y="809625"/>
            <a:ext cx="16954500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</a:pPr>
            <a:r>
              <a:rPr lang="en-US" sz="8000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Organizzazione</a:t>
            </a:r>
            <a:r>
              <a:rPr lang="en-US" sz="8000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del </a:t>
            </a:r>
            <a:r>
              <a:rPr lang="en-US" sz="8000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progetto</a:t>
            </a:r>
            <a:endParaRPr lang="en-US" sz="8000" dirty="0">
              <a:solidFill>
                <a:srgbClr val="F5F3F3"/>
              </a:solidFill>
              <a:latin typeface="Georgia Pro Condensed" panose="020B0604020202020204" charset="0"/>
              <a:ea typeface="Georgia Pro Condensed"/>
              <a:cs typeface="Georgia Pro Condensed"/>
              <a:sym typeface="Georgia Pro Condense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305699" y="0"/>
            <a:ext cx="6982301" cy="10287000"/>
          </a:xfrm>
          <a:custGeom>
            <a:avLst/>
            <a:gdLst/>
            <a:ahLst/>
            <a:cxnLst/>
            <a:rect l="l" t="t" r="r" b="b"/>
            <a:pathLst>
              <a:path w="6982301" h="10287000">
                <a:moveTo>
                  <a:pt x="0" y="0"/>
                </a:moveTo>
                <a:lnTo>
                  <a:pt x="6982301" y="0"/>
                </a:lnTo>
                <a:lnTo>
                  <a:pt x="698230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>
              <a:latin typeface="Georgia Pro Condensed" panose="020B0604020202020204" charset="0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356774" y="7508916"/>
            <a:ext cx="8951921" cy="323850"/>
            <a:chOff x="0" y="0"/>
            <a:chExt cx="11935895" cy="431800"/>
          </a:xfrm>
        </p:grpSpPr>
        <p:sp>
          <p:nvSpPr>
            <p:cNvPr id="4" name="AutoShape 4"/>
            <p:cNvSpPr/>
            <p:nvPr/>
          </p:nvSpPr>
          <p:spPr>
            <a:xfrm>
              <a:off x="431800" y="215900"/>
              <a:ext cx="11411610" cy="0"/>
            </a:xfrm>
            <a:prstGeom prst="line">
              <a:avLst/>
            </a:prstGeom>
            <a:ln w="25400" cap="flat">
              <a:solidFill>
                <a:srgbClr val="8AB6D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0"/>
              <a:ext cx="431800" cy="431800"/>
              <a:chOff x="0" y="0"/>
              <a:chExt cx="6350000" cy="63500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8AB6D6"/>
              </a:solidFill>
            </p:spPr>
            <p:txBody>
              <a:bodyPr/>
              <a:lstStyle/>
              <a:p>
                <a:endParaRPr lang="it-IT">
                  <a:latin typeface="Georgia Pro Condensed" panose="020B0604020202020204" charset="0"/>
                </a:endParaRPr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5752047" y="0"/>
              <a:ext cx="431800" cy="431800"/>
              <a:chOff x="0" y="0"/>
              <a:chExt cx="6350000" cy="63500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8AB6D6"/>
              </a:solidFill>
            </p:spPr>
            <p:txBody>
              <a:bodyPr/>
              <a:lstStyle/>
              <a:p>
                <a:endParaRPr lang="it-IT">
                  <a:latin typeface="Georgia Pro Condensed" panose="020B0604020202020204" charset="0"/>
                </a:endParaRPr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1504095" y="0"/>
              <a:ext cx="431800" cy="431800"/>
              <a:chOff x="0" y="0"/>
              <a:chExt cx="6350000" cy="63500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8AB6D6"/>
              </a:solidFill>
            </p:spPr>
            <p:txBody>
              <a:bodyPr/>
              <a:lstStyle/>
              <a:p>
                <a:endParaRPr lang="it-IT">
                  <a:latin typeface="Georgia Pro Condensed" panose="020B0604020202020204" charset="0"/>
                </a:endParaRPr>
              </a:p>
            </p:txBody>
          </p:sp>
        </p:grpSp>
      </p:grpSp>
      <p:sp>
        <p:nvSpPr>
          <p:cNvPr id="11" name="TextBox 11"/>
          <p:cNvSpPr txBox="1"/>
          <p:nvPr/>
        </p:nvSpPr>
        <p:spPr>
          <a:xfrm>
            <a:off x="666750" y="809625"/>
            <a:ext cx="16954500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8000"/>
              </a:lnSpc>
            </a:pPr>
            <a:r>
              <a:rPr lang="en-US" sz="800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Sprint 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16684" y="2297289"/>
            <a:ext cx="6068854" cy="1590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00"/>
              </a:lnSpc>
            </a:pP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Analisi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dei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requisiti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: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cosa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capisce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sul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sistema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dalla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sola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analisi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dei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requisiti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?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6774" y="5403165"/>
            <a:ext cx="3500795" cy="493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00"/>
              </a:lnSpc>
              <a:spcBef>
                <a:spcPct val="0"/>
              </a:spcBef>
            </a:pPr>
            <a:r>
              <a:rPr lang="en-US" sz="3000" spc="-44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Divisione degli Sprint: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6774" y="7083466"/>
            <a:ext cx="775335" cy="32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-3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Sprint1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6774" y="7842250"/>
            <a:ext cx="2951480" cy="2120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Core Business:</a:t>
            </a:r>
          </a:p>
          <a:p>
            <a:pPr marL="431801" lvl="1" indent="-215900" algn="just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rappresentazione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della hold,</a:t>
            </a:r>
          </a:p>
          <a:p>
            <a:pPr marL="431801" lvl="1" indent="-215900" algn="just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basicrobot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,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cargorobot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,</a:t>
            </a:r>
          </a:p>
          <a:p>
            <a:pPr marL="431801" lvl="1" indent="-215900" algn="just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productservice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,</a:t>
            </a:r>
          </a:p>
          <a:p>
            <a:pPr marL="431801" lvl="1" indent="-215900" algn="just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cargoservice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445067" y="7842250"/>
            <a:ext cx="775335" cy="32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-3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Sprint2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45067" y="6378616"/>
            <a:ext cx="1159550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Sensor: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sonar,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led.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56332" y="7083466"/>
            <a:ext cx="775335" cy="32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sz="2000" spc="-3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Sprint3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798422" y="7927121"/>
            <a:ext cx="691154" cy="3286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GUI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715677" y="2445489"/>
            <a:ext cx="11301259" cy="6130933"/>
          </a:xfrm>
          <a:custGeom>
            <a:avLst/>
            <a:gdLst/>
            <a:ahLst/>
            <a:cxnLst/>
            <a:rect l="l" t="t" r="r" b="b"/>
            <a:pathLst>
              <a:path w="11301259" h="6130933">
                <a:moveTo>
                  <a:pt x="0" y="0"/>
                </a:moveTo>
                <a:lnTo>
                  <a:pt x="11301259" y="0"/>
                </a:lnTo>
                <a:lnTo>
                  <a:pt x="11301259" y="6130933"/>
                </a:lnTo>
                <a:lnTo>
                  <a:pt x="0" y="61309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TextBox 3"/>
          <p:cNvSpPr txBox="1"/>
          <p:nvPr/>
        </p:nvSpPr>
        <p:spPr>
          <a:xfrm>
            <a:off x="666750" y="809625"/>
            <a:ext cx="6886575" cy="1069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Sprint 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6750" y="2331189"/>
            <a:ext cx="6048927" cy="652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spc="-75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Punti</a:t>
            </a:r>
            <a:r>
              <a:rPr lang="en-US" sz="5000" spc="-75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5000" spc="-75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chiave</a:t>
            </a:r>
            <a:r>
              <a:rPr lang="en-US" sz="5000" spc="-75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: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rappresentazione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della hold,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movimento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basicrobot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posizioni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rilevanti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productservice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e </a:t>
            </a: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gestione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hold,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test.</a:t>
            </a:r>
          </a:p>
          <a:p>
            <a:pPr marL="0" lvl="0" indent="0" algn="l">
              <a:lnSpc>
                <a:spcPts val="5599"/>
              </a:lnSpc>
            </a:pPr>
            <a:endParaRPr lang="en-US" sz="3999" spc="-59" dirty="0">
              <a:solidFill>
                <a:srgbClr val="F5F3F3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326275" y="1676400"/>
            <a:ext cx="11670949" cy="7381875"/>
          </a:xfrm>
          <a:custGeom>
            <a:avLst/>
            <a:gdLst/>
            <a:ahLst/>
            <a:cxnLst/>
            <a:rect l="l" t="t" r="r" b="b"/>
            <a:pathLst>
              <a:path w="11670949" h="7381875">
                <a:moveTo>
                  <a:pt x="0" y="0"/>
                </a:moveTo>
                <a:lnTo>
                  <a:pt x="11670949" y="0"/>
                </a:lnTo>
                <a:lnTo>
                  <a:pt x="11670949" y="7381875"/>
                </a:lnTo>
                <a:lnTo>
                  <a:pt x="0" y="73818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>
              <a:latin typeface="Georgia Pro Condensed" panose="020B0604020202020204" charset="0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666750" y="809625"/>
            <a:ext cx="6886575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Sprint 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6749" y="2476500"/>
            <a:ext cx="6886575" cy="5114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spc="-75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Punti</a:t>
            </a:r>
            <a:r>
              <a:rPr lang="en-US" sz="5000" spc="-75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5000" spc="-75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chiave</a:t>
            </a:r>
            <a:r>
              <a:rPr lang="en-US" sz="5000" spc="-75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: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modellazione</a:t>
            </a: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Sensor,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sonar,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led,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test,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deployment.</a:t>
            </a:r>
          </a:p>
          <a:p>
            <a:pPr marL="0" lvl="0" indent="0" algn="l">
              <a:lnSpc>
                <a:spcPts val="5599"/>
              </a:lnSpc>
            </a:pPr>
            <a:endParaRPr lang="en-US" sz="3999" spc="-59" dirty="0">
              <a:solidFill>
                <a:srgbClr val="F5F3F3"/>
              </a:solidFill>
              <a:latin typeface="Georgia Pro Condensed" panose="020B0604020202020204" charset="0"/>
              <a:ea typeface="Georgia Pro Condensed"/>
              <a:cs typeface="Georgia Pro Condensed"/>
              <a:sym typeface="Georgia Pro Condense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96400" y="0"/>
            <a:ext cx="8991600" cy="3352800"/>
            <a:chOff x="0" y="0"/>
            <a:chExt cx="2368158" cy="8830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68158" cy="883042"/>
            </a:xfrm>
            <a:custGeom>
              <a:avLst/>
              <a:gdLst/>
              <a:ahLst/>
              <a:cxnLst/>
              <a:rect l="l" t="t" r="r" b="b"/>
              <a:pathLst>
                <a:path w="2368158" h="883042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273C4A"/>
            </a:solidFill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368158" cy="9401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>
                <a:latin typeface="Georgia Pro Condensed" panose="020B0604020202020204" charset="0"/>
              </a:endParaRPr>
            </a:p>
          </p:txBody>
        </p:sp>
      </p:grpSp>
      <p:sp>
        <p:nvSpPr>
          <p:cNvPr id="5" name="Freeform 5"/>
          <p:cNvSpPr/>
          <p:nvPr/>
        </p:nvSpPr>
        <p:spPr>
          <a:xfrm>
            <a:off x="6067662" y="690455"/>
            <a:ext cx="11273532" cy="8906091"/>
          </a:xfrm>
          <a:custGeom>
            <a:avLst/>
            <a:gdLst/>
            <a:ahLst/>
            <a:cxnLst/>
            <a:rect l="l" t="t" r="r" b="b"/>
            <a:pathLst>
              <a:path w="11273532" h="8906091">
                <a:moveTo>
                  <a:pt x="0" y="0"/>
                </a:moveTo>
                <a:lnTo>
                  <a:pt x="11273533" y="0"/>
                </a:lnTo>
                <a:lnTo>
                  <a:pt x="11273533" y="8906090"/>
                </a:lnTo>
                <a:lnTo>
                  <a:pt x="0" y="89060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>
              <a:latin typeface="Georgia Pro Condensed" panose="020B0604020202020204" charset="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66750" y="809625"/>
            <a:ext cx="6886575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Sprint 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6750" y="2533650"/>
            <a:ext cx="5400912" cy="581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spc="-75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Punti</a:t>
            </a:r>
            <a:r>
              <a:rPr lang="en-US" sz="5000" spc="-75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5000" spc="-75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chiave</a:t>
            </a:r>
            <a:r>
              <a:rPr lang="en-US" sz="5000" spc="-75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: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modellazione</a:t>
            </a: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GUI,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estrazione</a:t>
            </a: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3999" spc="-5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stato</a:t>
            </a: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hold,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visualizzazione</a:t>
            </a: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3999" spc="-5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stato</a:t>
            </a: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hold,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test,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deployment.</a:t>
            </a:r>
          </a:p>
          <a:p>
            <a:pPr marL="0" lvl="0" indent="0" algn="l">
              <a:lnSpc>
                <a:spcPts val="5599"/>
              </a:lnSpc>
            </a:pPr>
            <a:endParaRPr lang="en-US" sz="3999" spc="-59" dirty="0">
              <a:solidFill>
                <a:srgbClr val="F5F3F3"/>
              </a:solidFill>
              <a:latin typeface="Georgia Pro Condensed" panose="020B0604020202020204" charset="0"/>
              <a:ea typeface="Georgia Pro Condensed"/>
              <a:cs typeface="Georgia Pro Condensed"/>
              <a:sym typeface="Georgia Pro Condense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858125" cy="10287000"/>
            <a:chOff x="0" y="0"/>
            <a:chExt cx="1031988" cy="1350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31988" cy="1350966"/>
            </a:xfrm>
            <a:custGeom>
              <a:avLst/>
              <a:gdLst/>
              <a:ahLst/>
              <a:cxnLst/>
              <a:rect l="l" t="t" r="r" b="b"/>
              <a:pathLst>
                <a:path w="1031988" h="1350966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4A90D9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52512" y="666750"/>
            <a:ext cx="5753100" cy="8953500"/>
            <a:chOff x="0" y="0"/>
            <a:chExt cx="814724" cy="126794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4724" cy="1267949"/>
            </a:xfrm>
            <a:custGeom>
              <a:avLst/>
              <a:gdLst/>
              <a:ahLst/>
              <a:cxnLst/>
              <a:rect l="l" t="t" r="r" b="b"/>
              <a:pathLst>
                <a:path w="814724" h="1267949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t="-199" b="-199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332024" y="4282046"/>
            <a:ext cx="8317491" cy="1999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956"/>
              </a:lnSpc>
            </a:pPr>
            <a:r>
              <a:rPr lang="en-US" sz="14956" spc="-523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Grazie!</a:t>
            </a:r>
          </a:p>
        </p:txBody>
      </p:sp>
      <p:sp>
        <p:nvSpPr>
          <p:cNvPr id="7" name="Freeform 7"/>
          <p:cNvSpPr/>
          <p:nvPr/>
        </p:nvSpPr>
        <p:spPr>
          <a:xfrm rot="-3117037">
            <a:off x="5418783" y="7952721"/>
            <a:ext cx="2112604" cy="1859092"/>
          </a:xfrm>
          <a:custGeom>
            <a:avLst/>
            <a:gdLst/>
            <a:ahLst/>
            <a:cxnLst/>
            <a:rect l="l" t="t" r="r" b="b"/>
            <a:pathLst>
              <a:path w="2112604" h="1859092">
                <a:moveTo>
                  <a:pt x="0" y="0"/>
                </a:moveTo>
                <a:lnTo>
                  <a:pt x="2112604" y="0"/>
                </a:lnTo>
                <a:lnTo>
                  <a:pt x="2112604" y="1859092"/>
                </a:lnTo>
                <a:lnTo>
                  <a:pt x="0" y="18590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174</Words>
  <Application>Microsoft Office PowerPoint</Application>
  <PresentationFormat>Personalizzato</PresentationFormat>
  <Paragraphs>58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Arial</vt:lpstr>
      <vt:lpstr>Georgia Pro Condensed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Identificazione degli obiettivi di progetto</dc:title>
  <cp:lastModifiedBy>Andrea Fasano - andrea.fasano3@studio.unibo.it</cp:lastModifiedBy>
  <cp:revision>4</cp:revision>
  <dcterms:created xsi:type="dcterms:W3CDTF">2006-08-16T00:00:00Z</dcterms:created>
  <dcterms:modified xsi:type="dcterms:W3CDTF">2025-11-24T16:27:18Z</dcterms:modified>
  <dc:identifier>DAG5mr3ZiBA</dc:identifier>
</cp:coreProperties>
</file>