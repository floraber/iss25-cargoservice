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Georgia Pro Condensed" panose="020B060402020202020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700"/>
            <a:ext cx="11201400" cy="10299700"/>
            <a:chOff x="0" y="0"/>
            <a:chExt cx="963348" cy="8857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63348" cy="885799"/>
            </a:xfrm>
            <a:custGeom>
              <a:avLst/>
              <a:gdLst/>
              <a:ahLst/>
              <a:cxnLst/>
              <a:rect l="l" t="t" r="r" b="b"/>
              <a:pathLst>
                <a:path w="963348" h="885799">
                  <a:moveTo>
                    <a:pt x="0" y="0"/>
                  </a:moveTo>
                  <a:lnTo>
                    <a:pt x="963348" y="0"/>
                  </a:lnTo>
                  <a:lnTo>
                    <a:pt x="963348" y="885799"/>
                  </a:lnTo>
                  <a:lnTo>
                    <a:pt x="0" y="885799"/>
                  </a:lnTo>
                  <a:close/>
                </a:path>
              </a:pathLst>
            </a:custGeom>
            <a:solidFill>
              <a:srgbClr val="3E536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>
                <a:latin typeface="Georgia Pro Condensed" panose="020B0604020202020204" charset="0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1868150" y="666750"/>
            <a:ext cx="5753100" cy="8953500"/>
            <a:chOff x="0" y="0"/>
            <a:chExt cx="814724" cy="12679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4724" cy="1267949"/>
            </a:xfrm>
            <a:custGeom>
              <a:avLst/>
              <a:gdLst/>
              <a:ahLst/>
              <a:cxnLst/>
              <a:rect l="l" t="t" r="r" b="b"/>
              <a:pathLst>
                <a:path w="814724" h="1267949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t="-199" b="-199"/>
              </a:stretch>
            </a:blipFill>
          </p:spPr>
          <p:txBody>
            <a:bodyPr/>
            <a:lstStyle/>
            <a:p>
              <a:endParaRPr lang="it-IT">
                <a:latin typeface="Georgia Pro Condensed" panose="020B0604020202020204" charset="0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 rot="-3117037">
            <a:off x="8947742" y="765609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4" y="0"/>
                </a:lnTo>
                <a:lnTo>
                  <a:pt x="2112604" y="1859091"/>
                </a:lnTo>
                <a:lnTo>
                  <a:pt x="0" y="1859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>
              <a:latin typeface="Georgia Pro Condensed" panose="020B0604020202020204" charset="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1304925"/>
            <a:ext cx="9754495" cy="1999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956"/>
              </a:lnSpc>
            </a:pPr>
            <a:r>
              <a:rPr lang="en-US" sz="14956" spc="-523">
                <a:solidFill>
                  <a:srgbClr val="F5F3F3"/>
                </a:solidFill>
                <a:latin typeface="Georgia Pro Condensed" panose="020B0604020202020204" charset="0"/>
                <a:ea typeface="Georgia Pro Condensed"/>
                <a:cs typeface="Georgia Pro Condensed"/>
                <a:sym typeface="Georgia Pro Condensed"/>
              </a:rPr>
              <a:t>Cargoservice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4279821"/>
            <a:ext cx="7845028" cy="2728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dirty="0" err="1">
                <a:solidFill>
                  <a:srgbClr val="F5F3F3"/>
                </a:solidFill>
                <a:latin typeface="Georgia Pro Condensed" panose="020B0604020202020204" charset="0"/>
                <a:ea typeface="Georgia Pro Condensed"/>
                <a:cs typeface="Georgia Pro Condensed"/>
                <a:sym typeface="Georgia Pro Condensed"/>
              </a:rPr>
              <a:t>Ingegneria</a:t>
            </a:r>
            <a:r>
              <a:rPr lang="en-US" sz="5199" dirty="0">
                <a:solidFill>
                  <a:srgbClr val="F5F3F3"/>
                </a:solidFill>
                <a:latin typeface="Georgia Pro Condensed" panose="020B0604020202020204" charset="0"/>
                <a:ea typeface="Georgia Pro Condensed"/>
                <a:cs typeface="Georgia Pro Condensed"/>
                <a:sym typeface="Georgia Pro Condensed"/>
              </a:rPr>
              <a:t> </a:t>
            </a:r>
            <a:r>
              <a:rPr lang="en-US" sz="5199" dirty="0" err="1">
                <a:solidFill>
                  <a:srgbClr val="F5F3F3"/>
                </a:solidFill>
                <a:latin typeface="Georgia Pro Condensed" panose="020B0604020202020204" charset="0"/>
                <a:ea typeface="Georgia Pro Condensed"/>
                <a:cs typeface="Georgia Pro Condensed"/>
                <a:sym typeface="Georgia Pro Condensed"/>
              </a:rPr>
              <a:t>dei</a:t>
            </a:r>
            <a:r>
              <a:rPr lang="en-US" sz="5199" dirty="0">
                <a:solidFill>
                  <a:srgbClr val="F5F3F3"/>
                </a:solidFill>
                <a:latin typeface="Georgia Pro Condensed" panose="020B0604020202020204" charset="0"/>
                <a:ea typeface="Georgia Pro Condensed"/>
                <a:cs typeface="Georgia Pro Condensed"/>
                <a:sym typeface="Georgia Pro Condensed"/>
              </a:rPr>
              <a:t> </a:t>
            </a:r>
            <a:r>
              <a:rPr lang="en-US" sz="5199" dirty="0" err="1">
                <a:solidFill>
                  <a:srgbClr val="F5F3F3"/>
                </a:solidFill>
                <a:latin typeface="Georgia Pro Condensed" panose="020B0604020202020204" charset="0"/>
                <a:ea typeface="Georgia Pro Condensed"/>
                <a:cs typeface="Georgia Pro Condensed"/>
                <a:sym typeface="Georgia Pro Condensed"/>
              </a:rPr>
              <a:t>sistemi</a:t>
            </a:r>
            <a:r>
              <a:rPr lang="en-US" sz="5199" dirty="0">
                <a:solidFill>
                  <a:srgbClr val="F5F3F3"/>
                </a:solidFill>
                <a:latin typeface="Georgia Pro Condensed" panose="020B0604020202020204" charset="0"/>
                <a:ea typeface="Georgia Pro Condensed"/>
                <a:cs typeface="Georgia Pro Condensed"/>
                <a:sym typeface="Georgia Pro Condensed"/>
              </a:rPr>
              <a:t> software </a:t>
            </a:r>
          </a:p>
          <a:p>
            <a:pPr algn="l">
              <a:lnSpc>
                <a:spcPts val="7279"/>
              </a:lnSpc>
            </a:pPr>
            <a:r>
              <a:rPr lang="en-US" sz="5199" dirty="0">
                <a:solidFill>
                  <a:srgbClr val="F5F3F3"/>
                </a:solidFill>
                <a:latin typeface="Georgia Pro Condensed" panose="020B0604020202020204" charset="0"/>
                <a:ea typeface="Georgia Pro Condensed"/>
                <a:cs typeface="Georgia Pro Condensed"/>
                <a:sym typeface="Georgia Pro Condensed"/>
              </a:rPr>
              <a:t>2024/2025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7104703"/>
            <a:ext cx="3314700" cy="21088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F5F3F3"/>
                </a:solidFill>
                <a:latin typeface="Georgia Pro Condensed" panose="020B0604020202020204" charset="0"/>
                <a:ea typeface="Georgia Pro Condensed"/>
                <a:cs typeface="Georgia Pro Condensed"/>
                <a:sym typeface="Georgia Pro Condensed"/>
              </a:rPr>
              <a:t>Progetto a cura di:</a:t>
            </a:r>
          </a:p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F5F3F3"/>
                </a:solidFill>
                <a:latin typeface="Georgia Pro Condensed" panose="020B0604020202020204" charset="0"/>
                <a:ea typeface="Georgia Pro Condensed"/>
                <a:cs typeface="Georgia Pro Condensed"/>
                <a:sym typeface="Georgia Pro Condensed"/>
              </a:rPr>
              <a:t>Fasano Andrea</a:t>
            </a:r>
          </a:p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F5F3F3"/>
                </a:solidFill>
                <a:latin typeface="Georgia Pro Condensed" panose="020B0604020202020204" charset="0"/>
                <a:ea typeface="Georgia Pro Condensed"/>
                <a:cs typeface="Georgia Pro Condensed"/>
                <a:sym typeface="Georgia Pro Condensed"/>
              </a:rPr>
              <a:t>Florian Alberto</a:t>
            </a:r>
          </a:p>
          <a:p>
            <a:pPr algn="l">
              <a:lnSpc>
                <a:spcPts val="4200"/>
              </a:lnSpc>
            </a:pPr>
            <a:r>
              <a:rPr lang="en-US" sz="3000" dirty="0" err="1">
                <a:solidFill>
                  <a:srgbClr val="F5F3F3"/>
                </a:solidFill>
                <a:latin typeface="Georgia Pro Condensed" panose="020B0604020202020204" charset="0"/>
                <a:ea typeface="Georgia Pro Condensed"/>
                <a:cs typeface="Georgia Pro Condensed"/>
                <a:sym typeface="Georgia Pro Condensed"/>
              </a:rPr>
              <a:t>Sampaoli</a:t>
            </a:r>
            <a:r>
              <a:rPr lang="en-US" sz="3000" dirty="0">
                <a:solidFill>
                  <a:srgbClr val="F5F3F3"/>
                </a:solidFill>
                <a:latin typeface="Georgia Pro Condensed" panose="020B0604020202020204" charset="0"/>
                <a:ea typeface="Georgia Pro Condensed"/>
                <a:cs typeface="Georgia Pro Condensed"/>
                <a:sym typeface="Georgia Pro Condensed"/>
              </a:rPr>
              <a:t> Giacomo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3C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3782219"/>
            <a:ext cx="4007657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000" b="1" spc="-44">
                <a:solidFill>
                  <a:srgbClr val="F5F3F3"/>
                </a:solidFill>
                <a:latin typeface="Georgia Pro Condensed" panose="020B0604020202020204" charset="0"/>
                <a:ea typeface="Helvetica World Bold"/>
                <a:cs typeface="Helvetica World Bold"/>
                <a:sym typeface="Helvetica World Bold"/>
              </a:rPr>
              <a:t>Sprint0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66750" y="5623401"/>
            <a:ext cx="4007657" cy="1768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spc="-30" dirty="0" err="1">
                <a:solidFill>
                  <a:srgbClr val="F5F3F3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analisi</a:t>
            </a:r>
            <a:r>
              <a:rPr lang="en-US" sz="2000" spc="-30" dirty="0">
                <a:solidFill>
                  <a:srgbClr val="F5F3F3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000" spc="-30" dirty="0" err="1">
                <a:solidFill>
                  <a:srgbClr val="F5F3F3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dei</a:t>
            </a:r>
            <a:r>
              <a:rPr lang="en-US" sz="2000" spc="-30" dirty="0">
                <a:solidFill>
                  <a:srgbClr val="F5F3F3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000" spc="-30" dirty="0" err="1">
                <a:solidFill>
                  <a:srgbClr val="F5F3F3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requisiti</a:t>
            </a:r>
            <a:r>
              <a:rPr lang="en-US" sz="2000" spc="-30" dirty="0">
                <a:solidFill>
                  <a:srgbClr val="F5F3F3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000" spc="-30" dirty="0" err="1">
                <a:solidFill>
                  <a:srgbClr val="F5F3F3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forniti</a:t>
            </a:r>
            <a:r>
              <a:rPr lang="en-US" sz="2000" spc="-30" dirty="0">
                <a:solidFill>
                  <a:srgbClr val="F5F3F3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 dal </a:t>
            </a:r>
            <a:r>
              <a:rPr lang="en-US" sz="2000" spc="-30" dirty="0" err="1">
                <a:solidFill>
                  <a:srgbClr val="F5F3F3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committente</a:t>
            </a:r>
            <a:r>
              <a:rPr lang="en-US" sz="2000" spc="-30" dirty="0">
                <a:solidFill>
                  <a:srgbClr val="F5F3F3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,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spc="-30" dirty="0" err="1">
                <a:solidFill>
                  <a:srgbClr val="F5F3F3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costruzione</a:t>
            </a:r>
            <a:r>
              <a:rPr lang="en-US" sz="2000" spc="-30" dirty="0">
                <a:solidFill>
                  <a:srgbClr val="F5F3F3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 del </a:t>
            </a:r>
            <a:r>
              <a:rPr lang="en-US" sz="2000" spc="-30" dirty="0" err="1">
                <a:solidFill>
                  <a:srgbClr val="F5F3F3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modello</a:t>
            </a:r>
            <a:r>
              <a:rPr lang="en-US" sz="2000" spc="-30" dirty="0">
                <a:solidFill>
                  <a:srgbClr val="F5F3F3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 di </a:t>
            </a:r>
            <a:r>
              <a:rPr lang="en-US" sz="2000" spc="-30" dirty="0" err="1">
                <a:solidFill>
                  <a:srgbClr val="F5F3F3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riferimento</a:t>
            </a:r>
            <a:r>
              <a:rPr lang="en-US" sz="2000" spc="-30" dirty="0">
                <a:solidFill>
                  <a:srgbClr val="F5F3F3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,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spc="-30" dirty="0" err="1">
                <a:solidFill>
                  <a:srgbClr val="F5F3F3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organizzazione</a:t>
            </a:r>
            <a:r>
              <a:rPr lang="en-US" sz="2000" spc="-30" dirty="0">
                <a:solidFill>
                  <a:srgbClr val="F5F3F3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 Sprint </a:t>
            </a:r>
            <a:r>
              <a:rPr lang="en-US" sz="2000" spc="-30" dirty="0" err="1">
                <a:solidFill>
                  <a:srgbClr val="F5F3F3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futuri</a:t>
            </a:r>
            <a:r>
              <a:rPr lang="en-US" sz="2000" spc="-30" dirty="0">
                <a:solidFill>
                  <a:srgbClr val="F5F3F3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979207" y="3782219"/>
            <a:ext cx="4010025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000" b="1" spc="-44">
                <a:solidFill>
                  <a:srgbClr val="F5F3F3"/>
                </a:solidFill>
                <a:latin typeface="Georgia Pro Condensed" panose="020B0604020202020204" charset="0"/>
                <a:ea typeface="Helvetica World Bold"/>
                <a:cs typeface="Helvetica World Bold"/>
                <a:sym typeface="Helvetica World Bold"/>
              </a:rPr>
              <a:t>Sprint1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614065" y="3738563"/>
            <a:ext cx="4003106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000" b="1" spc="-44">
                <a:solidFill>
                  <a:srgbClr val="F5F3F3"/>
                </a:solidFill>
                <a:latin typeface="Georgia Pro Condensed" panose="020B0604020202020204" charset="0"/>
                <a:ea typeface="Helvetica World Bold"/>
                <a:cs typeface="Helvetica World Bold"/>
                <a:sym typeface="Helvetica World Bold"/>
              </a:rPr>
              <a:t>Sprint3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979207" y="5623401"/>
            <a:ext cx="4010025" cy="71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spc="-30" dirty="0" err="1">
                <a:solidFill>
                  <a:srgbClr val="F5F3F3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realizzazione</a:t>
            </a:r>
            <a:r>
              <a:rPr lang="en-US" sz="2000" spc="-30" dirty="0">
                <a:solidFill>
                  <a:srgbClr val="F5F3F3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 del core business del </a:t>
            </a:r>
            <a:r>
              <a:rPr lang="en-US" sz="2000" spc="-30" dirty="0" err="1">
                <a:solidFill>
                  <a:srgbClr val="F5F3F3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sistema</a:t>
            </a:r>
            <a:r>
              <a:rPr lang="en-US" sz="2000" spc="-30" dirty="0">
                <a:solidFill>
                  <a:srgbClr val="F5F3F3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608857" y="5623401"/>
            <a:ext cx="4003106" cy="71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spc="-30" dirty="0" err="1">
                <a:solidFill>
                  <a:srgbClr val="F5F3F3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realizzazione</a:t>
            </a:r>
            <a:r>
              <a:rPr lang="en-US" sz="2000" spc="-30" dirty="0">
                <a:solidFill>
                  <a:srgbClr val="F5F3F3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 della GUI,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spc="-30" dirty="0" err="1">
                <a:solidFill>
                  <a:srgbClr val="F5F3F3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integrazione</a:t>
            </a:r>
            <a:r>
              <a:rPr lang="en-US" sz="2000" spc="-30" dirty="0">
                <a:solidFill>
                  <a:srgbClr val="F5F3F3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 con il </a:t>
            </a:r>
            <a:r>
              <a:rPr lang="en-US" sz="2000" spc="-30" dirty="0" err="1">
                <a:solidFill>
                  <a:srgbClr val="F5F3F3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sistema</a:t>
            </a:r>
            <a:r>
              <a:rPr lang="en-US" sz="2000" spc="-30" dirty="0">
                <a:solidFill>
                  <a:srgbClr val="F5F3F3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294032" y="3782219"/>
            <a:ext cx="3807849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000" b="1" spc="-44">
                <a:solidFill>
                  <a:srgbClr val="F5F3F3"/>
                </a:solidFill>
                <a:latin typeface="Georgia Pro Condensed" panose="020B0604020202020204" charset="0"/>
                <a:ea typeface="Helvetica World Bold"/>
                <a:cs typeface="Helvetica World Bold"/>
                <a:sym typeface="Helvetica World Bold"/>
              </a:rPr>
              <a:t>Sprint2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294821" y="5623401"/>
            <a:ext cx="4009236" cy="104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spc="-30" dirty="0" err="1">
                <a:solidFill>
                  <a:srgbClr val="F5F3F3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realizzazione</a:t>
            </a:r>
            <a:r>
              <a:rPr lang="en-US" sz="2000" spc="-30" dirty="0">
                <a:solidFill>
                  <a:srgbClr val="F5F3F3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 del </a:t>
            </a:r>
            <a:r>
              <a:rPr lang="en-US" sz="2000" spc="-30" dirty="0" err="1">
                <a:solidFill>
                  <a:srgbClr val="F5F3F3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componente</a:t>
            </a:r>
            <a:r>
              <a:rPr lang="en-US" sz="2000" spc="-30" dirty="0">
                <a:solidFill>
                  <a:srgbClr val="F5F3F3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 Sensor,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spc="-30" dirty="0" err="1">
                <a:solidFill>
                  <a:srgbClr val="F5F3F3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integrazione</a:t>
            </a:r>
            <a:r>
              <a:rPr lang="en-US" sz="2000" spc="-30" dirty="0">
                <a:solidFill>
                  <a:srgbClr val="F5F3F3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 con il core business.</a:t>
            </a:r>
          </a:p>
        </p:txBody>
      </p:sp>
      <p:sp>
        <p:nvSpPr>
          <p:cNvPr id="10" name="AutoShape 10"/>
          <p:cNvSpPr/>
          <p:nvPr/>
        </p:nvSpPr>
        <p:spPr>
          <a:xfrm>
            <a:off x="990600" y="4947126"/>
            <a:ext cx="17607376" cy="0"/>
          </a:xfrm>
          <a:prstGeom prst="line">
            <a:avLst/>
          </a:prstGeom>
          <a:ln w="19050" cap="flat">
            <a:solidFill>
              <a:srgbClr val="8AB6D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>
              <a:latin typeface="Georgia Pro Condensed" panose="020B0604020202020204" charset="0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666750" y="4785201"/>
            <a:ext cx="323850" cy="323850"/>
            <a:chOff x="0" y="0"/>
            <a:chExt cx="6350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8AB6D6"/>
            </a:solidFill>
          </p:spPr>
          <p:txBody>
            <a:bodyPr/>
            <a:lstStyle/>
            <a:p>
              <a:endParaRPr lang="it-IT">
                <a:latin typeface="Georgia Pro Condensed" panose="020B0604020202020204" charset="0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80786" y="4785201"/>
            <a:ext cx="323850" cy="323850"/>
            <a:chOff x="0" y="0"/>
            <a:chExt cx="6350000" cy="6350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8AB6D6"/>
            </a:solidFill>
          </p:spPr>
          <p:txBody>
            <a:bodyPr/>
            <a:lstStyle/>
            <a:p>
              <a:endParaRPr lang="it-IT">
                <a:latin typeface="Georgia Pro Condensed" panose="020B0604020202020204" charset="0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294821" y="4785201"/>
            <a:ext cx="323850" cy="323850"/>
            <a:chOff x="0" y="0"/>
            <a:chExt cx="6350000" cy="6350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8AB6D6"/>
            </a:solidFill>
          </p:spPr>
          <p:txBody>
            <a:bodyPr/>
            <a:lstStyle/>
            <a:p>
              <a:endParaRPr lang="it-IT">
                <a:latin typeface="Georgia Pro Condensed" panose="020B0604020202020204" charset="0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608857" y="4785201"/>
            <a:ext cx="323850" cy="323850"/>
            <a:chOff x="0" y="0"/>
            <a:chExt cx="6350000" cy="6350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8AB6D6"/>
            </a:solidFill>
          </p:spPr>
          <p:txBody>
            <a:bodyPr/>
            <a:lstStyle/>
            <a:p>
              <a:endParaRPr lang="it-IT">
                <a:latin typeface="Georgia Pro Condensed" panose="020B0604020202020204" charset="0"/>
              </a:endParaRP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666750" y="809625"/>
            <a:ext cx="16954500" cy="1025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</a:pPr>
            <a:r>
              <a:rPr lang="en-US" sz="8000" dirty="0" err="1">
                <a:solidFill>
                  <a:srgbClr val="F5F3F3"/>
                </a:solidFill>
                <a:latin typeface="Georgia Pro Condensed" panose="020B0604020202020204" charset="0"/>
                <a:ea typeface="Georgia Pro Condensed"/>
                <a:cs typeface="Georgia Pro Condensed"/>
                <a:sym typeface="Georgia Pro Condensed"/>
              </a:rPr>
              <a:t>Organizzazione</a:t>
            </a:r>
            <a:r>
              <a:rPr lang="en-US" sz="8000" dirty="0">
                <a:solidFill>
                  <a:srgbClr val="F5F3F3"/>
                </a:solidFill>
                <a:latin typeface="Georgia Pro Condensed" panose="020B0604020202020204" charset="0"/>
                <a:ea typeface="Georgia Pro Condensed"/>
                <a:cs typeface="Georgia Pro Condensed"/>
                <a:sym typeface="Georgia Pro Condensed"/>
              </a:rPr>
              <a:t> del </a:t>
            </a:r>
            <a:r>
              <a:rPr lang="en-US" sz="8000" dirty="0" err="1">
                <a:solidFill>
                  <a:srgbClr val="F5F3F3"/>
                </a:solidFill>
                <a:latin typeface="Georgia Pro Condensed" panose="020B0604020202020204" charset="0"/>
                <a:ea typeface="Georgia Pro Condensed"/>
                <a:cs typeface="Georgia Pro Condensed"/>
                <a:sym typeface="Georgia Pro Condensed"/>
              </a:rPr>
              <a:t>progetto</a:t>
            </a:r>
            <a:endParaRPr lang="en-US" sz="8000" dirty="0">
              <a:solidFill>
                <a:srgbClr val="F5F3F3"/>
              </a:solidFill>
              <a:latin typeface="Georgia Pro Condensed" panose="020B0604020202020204" charset="0"/>
              <a:ea typeface="Georgia Pro Condensed"/>
              <a:cs typeface="Georgia Pro Condensed"/>
              <a:sym typeface="Georgia Pro Condense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3C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305699" y="0"/>
            <a:ext cx="6982301" cy="10287000"/>
          </a:xfrm>
          <a:custGeom>
            <a:avLst/>
            <a:gdLst/>
            <a:ahLst/>
            <a:cxnLst/>
            <a:rect l="l" t="t" r="r" b="b"/>
            <a:pathLst>
              <a:path w="6982301" h="10287000">
                <a:moveTo>
                  <a:pt x="0" y="0"/>
                </a:moveTo>
                <a:lnTo>
                  <a:pt x="6982301" y="0"/>
                </a:lnTo>
                <a:lnTo>
                  <a:pt x="698230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>
              <a:latin typeface="Georgia Pro Condensed" panose="020B0604020202020204" charset="0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356774" y="7508916"/>
            <a:ext cx="8951921" cy="323850"/>
            <a:chOff x="0" y="0"/>
            <a:chExt cx="11935895" cy="431800"/>
          </a:xfrm>
        </p:grpSpPr>
        <p:sp>
          <p:nvSpPr>
            <p:cNvPr id="4" name="AutoShape 4"/>
            <p:cNvSpPr/>
            <p:nvPr/>
          </p:nvSpPr>
          <p:spPr>
            <a:xfrm>
              <a:off x="431800" y="215900"/>
              <a:ext cx="11411610" cy="0"/>
            </a:xfrm>
            <a:prstGeom prst="line">
              <a:avLst/>
            </a:prstGeom>
            <a:ln w="25400" cap="flat">
              <a:solidFill>
                <a:srgbClr val="8AB6D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it-IT">
                <a:latin typeface="Georgia Pro Condensed" panose="020B0604020202020204" charset="0"/>
              </a:endParaRP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0"/>
              <a:ext cx="431800" cy="431800"/>
              <a:chOff x="0" y="0"/>
              <a:chExt cx="6350000" cy="63500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8AB6D6"/>
              </a:solidFill>
            </p:spPr>
            <p:txBody>
              <a:bodyPr/>
              <a:lstStyle/>
              <a:p>
                <a:endParaRPr lang="it-IT">
                  <a:latin typeface="Georgia Pro Condensed" panose="020B0604020202020204" charset="0"/>
                </a:endParaRPr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5752047" y="0"/>
              <a:ext cx="431800" cy="431800"/>
              <a:chOff x="0" y="0"/>
              <a:chExt cx="6350000" cy="63500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8AB6D6"/>
              </a:solidFill>
            </p:spPr>
            <p:txBody>
              <a:bodyPr/>
              <a:lstStyle/>
              <a:p>
                <a:endParaRPr lang="it-IT">
                  <a:latin typeface="Georgia Pro Condensed" panose="020B0604020202020204" charset="0"/>
                </a:endParaRPr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1504095" y="0"/>
              <a:ext cx="431800" cy="431800"/>
              <a:chOff x="0" y="0"/>
              <a:chExt cx="6350000" cy="6350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8AB6D6"/>
              </a:solidFill>
            </p:spPr>
            <p:txBody>
              <a:bodyPr/>
              <a:lstStyle/>
              <a:p>
                <a:endParaRPr lang="it-IT">
                  <a:latin typeface="Georgia Pro Condensed" panose="020B0604020202020204" charset="0"/>
                </a:endParaRPr>
              </a:p>
            </p:txBody>
          </p:sp>
        </p:grpSp>
      </p:grpSp>
      <p:sp>
        <p:nvSpPr>
          <p:cNvPr id="11" name="TextBox 11"/>
          <p:cNvSpPr txBox="1"/>
          <p:nvPr/>
        </p:nvSpPr>
        <p:spPr>
          <a:xfrm>
            <a:off x="666750" y="809625"/>
            <a:ext cx="16954500" cy="1025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8000"/>
              </a:lnSpc>
            </a:pPr>
            <a:r>
              <a:rPr lang="en-US" sz="8000">
                <a:solidFill>
                  <a:srgbClr val="F5F3F3"/>
                </a:solidFill>
                <a:latin typeface="Georgia Pro Condensed" panose="020B0604020202020204" charset="0"/>
                <a:ea typeface="Georgia Pro Condensed"/>
                <a:cs typeface="Georgia Pro Condensed"/>
                <a:sym typeface="Georgia Pro Condensed"/>
              </a:rPr>
              <a:t>Sprint 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16684" y="2297289"/>
            <a:ext cx="6068854" cy="159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spc="-44" dirty="0" err="1">
                <a:solidFill>
                  <a:srgbClr val="FFFFFF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Analisi</a:t>
            </a:r>
            <a:r>
              <a:rPr lang="en-US" sz="3000" spc="-44" dirty="0">
                <a:solidFill>
                  <a:srgbClr val="FFFFFF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3000" spc="-44" dirty="0" err="1">
                <a:solidFill>
                  <a:srgbClr val="FFFFFF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dei</a:t>
            </a:r>
            <a:r>
              <a:rPr lang="en-US" sz="3000" spc="-44" dirty="0">
                <a:solidFill>
                  <a:srgbClr val="FFFFFF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3000" spc="-44" dirty="0" err="1">
                <a:solidFill>
                  <a:srgbClr val="FFFFFF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requisiti</a:t>
            </a:r>
            <a:r>
              <a:rPr lang="en-US" sz="3000" spc="-44" dirty="0">
                <a:solidFill>
                  <a:srgbClr val="FFFFFF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: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spc="-44" dirty="0" err="1">
                <a:solidFill>
                  <a:srgbClr val="FFFFFF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cosa</a:t>
            </a:r>
            <a:r>
              <a:rPr lang="en-US" sz="3000" spc="-44" dirty="0">
                <a:solidFill>
                  <a:srgbClr val="FFFFFF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3000" spc="-44" dirty="0" err="1">
                <a:solidFill>
                  <a:srgbClr val="FFFFFF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si</a:t>
            </a:r>
            <a:r>
              <a:rPr lang="en-US" sz="3000" spc="-44" dirty="0">
                <a:solidFill>
                  <a:srgbClr val="FFFFFF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 capisce </a:t>
            </a:r>
            <a:r>
              <a:rPr lang="en-US" sz="3000" spc="-44" dirty="0" err="1">
                <a:solidFill>
                  <a:srgbClr val="FFFFFF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sul</a:t>
            </a:r>
            <a:r>
              <a:rPr lang="en-US" sz="3000" spc="-44" dirty="0">
                <a:solidFill>
                  <a:srgbClr val="FFFFFF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3000" spc="-44" dirty="0" err="1">
                <a:solidFill>
                  <a:srgbClr val="FFFFFF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sistema</a:t>
            </a:r>
            <a:r>
              <a:rPr lang="en-US" sz="3000" spc="-44" dirty="0">
                <a:solidFill>
                  <a:srgbClr val="FFFFFF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3000" spc="-44" dirty="0" err="1">
                <a:solidFill>
                  <a:srgbClr val="FFFFFF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dalla</a:t>
            </a:r>
            <a:r>
              <a:rPr lang="en-US" sz="3000" spc="-44" dirty="0">
                <a:solidFill>
                  <a:srgbClr val="FFFFFF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 sola </a:t>
            </a:r>
            <a:r>
              <a:rPr lang="en-US" sz="3000" spc="-44" dirty="0" err="1">
                <a:solidFill>
                  <a:srgbClr val="FFFFFF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analisi</a:t>
            </a:r>
            <a:r>
              <a:rPr lang="en-US" sz="3000" spc="-44" dirty="0">
                <a:solidFill>
                  <a:srgbClr val="FFFFFF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3000" spc="-44" dirty="0" err="1">
                <a:solidFill>
                  <a:srgbClr val="FFFFFF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dei</a:t>
            </a:r>
            <a:r>
              <a:rPr lang="en-US" sz="3000" spc="-44" dirty="0">
                <a:solidFill>
                  <a:srgbClr val="FFFFFF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3000" spc="-44" dirty="0" err="1">
                <a:solidFill>
                  <a:srgbClr val="FFFFFF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requisiti</a:t>
            </a:r>
            <a:r>
              <a:rPr lang="en-US" sz="3000" spc="-44" dirty="0">
                <a:solidFill>
                  <a:srgbClr val="FFFFFF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 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56774" y="5403165"/>
            <a:ext cx="3500795" cy="493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 spc="-44">
                <a:solidFill>
                  <a:srgbClr val="F5F3F3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Divisione degli Sprint: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56774" y="7083466"/>
            <a:ext cx="775335" cy="32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-30">
                <a:solidFill>
                  <a:srgbClr val="F5F3F3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Sprint1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56774" y="7842250"/>
            <a:ext cx="2951480" cy="2120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spc="-30" dirty="0">
                <a:solidFill>
                  <a:srgbClr val="F5F3F3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Core Business:</a:t>
            </a:r>
          </a:p>
          <a:p>
            <a:pPr marL="431801" lvl="1" indent="-215900" algn="just">
              <a:lnSpc>
                <a:spcPts val="2800"/>
              </a:lnSpc>
              <a:buFont typeface="Arial"/>
              <a:buChar char="•"/>
            </a:pPr>
            <a:r>
              <a:rPr lang="en-US" sz="2000" spc="-30" dirty="0" err="1">
                <a:solidFill>
                  <a:srgbClr val="F5F3F3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rappresentazione</a:t>
            </a:r>
            <a:r>
              <a:rPr lang="en-US" sz="2000" spc="-30" dirty="0">
                <a:solidFill>
                  <a:srgbClr val="F5F3F3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 della hold,</a:t>
            </a:r>
          </a:p>
          <a:p>
            <a:pPr marL="431801" lvl="1" indent="-215900" algn="just">
              <a:lnSpc>
                <a:spcPts val="2800"/>
              </a:lnSpc>
              <a:buFont typeface="Arial"/>
              <a:buChar char="•"/>
            </a:pPr>
            <a:r>
              <a:rPr lang="en-US" sz="2000" spc="-30" dirty="0" err="1">
                <a:solidFill>
                  <a:srgbClr val="F5F3F3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basicrobot</a:t>
            </a:r>
            <a:r>
              <a:rPr lang="en-US" sz="2000" spc="-30" dirty="0">
                <a:solidFill>
                  <a:srgbClr val="F5F3F3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, </a:t>
            </a:r>
            <a:r>
              <a:rPr lang="en-US" sz="2000" spc="-30" dirty="0" err="1">
                <a:solidFill>
                  <a:srgbClr val="F5F3F3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cargorobot</a:t>
            </a:r>
            <a:r>
              <a:rPr lang="en-US" sz="2000" spc="-30" dirty="0">
                <a:solidFill>
                  <a:srgbClr val="F5F3F3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,</a:t>
            </a:r>
          </a:p>
          <a:p>
            <a:pPr marL="431801" lvl="1" indent="-215900" algn="just">
              <a:lnSpc>
                <a:spcPts val="2800"/>
              </a:lnSpc>
              <a:buFont typeface="Arial"/>
              <a:buChar char="•"/>
            </a:pPr>
            <a:r>
              <a:rPr lang="en-US" sz="2000" spc="-30" dirty="0" err="1">
                <a:solidFill>
                  <a:srgbClr val="F5F3F3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productservice</a:t>
            </a:r>
            <a:r>
              <a:rPr lang="en-US" sz="2000" spc="-30" dirty="0">
                <a:solidFill>
                  <a:srgbClr val="F5F3F3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,</a:t>
            </a:r>
          </a:p>
          <a:p>
            <a:pPr marL="431801" lvl="1" indent="-215900" algn="just">
              <a:lnSpc>
                <a:spcPts val="2800"/>
              </a:lnSpc>
              <a:buFont typeface="Arial"/>
              <a:buChar char="•"/>
            </a:pPr>
            <a:r>
              <a:rPr lang="en-US" sz="2000" spc="-30" dirty="0" err="1">
                <a:solidFill>
                  <a:srgbClr val="F5F3F3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cargoservice</a:t>
            </a:r>
            <a:r>
              <a:rPr lang="en-US" sz="2000" spc="-30" dirty="0">
                <a:solidFill>
                  <a:srgbClr val="F5F3F3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445067" y="7842250"/>
            <a:ext cx="775335" cy="32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-30">
                <a:solidFill>
                  <a:srgbClr val="F5F3F3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Sprint2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445067" y="6378616"/>
            <a:ext cx="1159550" cy="106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-30" dirty="0">
                <a:solidFill>
                  <a:srgbClr val="F5F3F3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Sensor: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spc="-30" dirty="0">
                <a:solidFill>
                  <a:srgbClr val="F5F3F3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sonar,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spc="-30" dirty="0">
                <a:solidFill>
                  <a:srgbClr val="F5F3F3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led.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756332" y="7083466"/>
            <a:ext cx="775335" cy="32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spc="-30">
                <a:solidFill>
                  <a:srgbClr val="F5F3F3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Sprint3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798422" y="7927121"/>
            <a:ext cx="691154" cy="328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-30" dirty="0">
                <a:solidFill>
                  <a:srgbClr val="F5F3F3"/>
                </a:solidFill>
                <a:latin typeface="Georgia Pro Condensed" panose="020B0604020202020204" charset="0"/>
                <a:ea typeface="Helvetica World"/>
                <a:cs typeface="Helvetica World"/>
                <a:sym typeface="Helvetica World"/>
              </a:rPr>
              <a:t>GUI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3C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715677" y="2445489"/>
            <a:ext cx="11301259" cy="6130933"/>
          </a:xfrm>
          <a:custGeom>
            <a:avLst/>
            <a:gdLst/>
            <a:ahLst/>
            <a:cxnLst/>
            <a:rect l="l" t="t" r="r" b="b"/>
            <a:pathLst>
              <a:path w="11301259" h="6130933">
                <a:moveTo>
                  <a:pt x="0" y="0"/>
                </a:moveTo>
                <a:lnTo>
                  <a:pt x="11301259" y="0"/>
                </a:lnTo>
                <a:lnTo>
                  <a:pt x="11301259" y="6130933"/>
                </a:lnTo>
                <a:lnTo>
                  <a:pt x="0" y="61309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666750" y="809625"/>
            <a:ext cx="6886575" cy="106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>
                <a:solidFill>
                  <a:srgbClr val="F5F3F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Sprint 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6750" y="2331189"/>
            <a:ext cx="6048927" cy="652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spc="-75" dirty="0" err="1">
                <a:solidFill>
                  <a:srgbClr val="F5F3F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Punti</a:t>
            </a:r>
            <a:r>
              <a:rPr lang="en-US" sz="5000" spc="-75" dirty="0">
                <a:solidFill>
                  <a:srgbClr val="F5F3F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 </a:t>
            </a:r>
            <a:r>
              <a:rPr lang="en-US" sz="5000" spc="-75" dirty="0" err="1">
                <a:solidFill>
                  <a:srgbClr val="F5F3F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chiave</a:t>
            </a:r>
            <a:r>
              <a:rPr lang="en-US" sz="5000" spc="-75" dirty="0">
                <a:solidFill>
                  <a:srgbClr val="F5F3F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: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 spc="-59" dirty="0" err="1">
                <a:solidFill>
                  <a:srgbClr val="F5F3F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rappresentazione</a:t>
            </a:r>
            <a:r>
              <a:rPr lang="en-US" sz="3999" spc="-59" dirty="0">
                <a:solidFill>
                  <a:srgbClr val="F5F3F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 della hold,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 spc="-59" dirty="0" err="1">
                <a:solidFill>
                  <a:srgbClr val="F5F3F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movimento</a:t>
            </a:r>
            <a:r>
              <a:rPr lang="en-US" sz="3999" spc="-59" dirty="0">
                <a:solidFill>
                  <a:srgbClr val="F5F3F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 </a:t>
            </a:r>
            <a:r>
              <a:rPr lang="en-US" sz="3999" spc="-59" dirty="0" err="1">
                <a:solidFill>
                  <a:srgbClr val="F5F3F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basicrobot</a:t>
            </a:r>
            <a:r>
              <a:rPr lang="en-US" sz="3999" spc="-59" dirty="0">
                <a:solidFill>
                  <a:srgbClr val="F5F3F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,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 spc="-59" dirty="0" err="1">
                <a:solidFill>
                  <a:srgbClr val="F5F3F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posizioni</a:t>
            </a:r>
            <a:r>
              <a:rPr lang="en-US" sz="3999" spc="-59" dirty="0">
                <a:solidFill>
                  <a:srgbClr val="F5F3F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 </a:t>
            </a:r>
            <a:r>
              <a:rPr lang="en-US" sz="3999" spc="-59" dirty="0" err="1">
                <a:solidFill>
                  <a:srgbClr val="F5F3F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rilevanti</a:t>
            </a:r>
            <a:r>
              <a:rPr lang="en-US" sz="3999" spc="-59" dirty="0">
                <a:solidFill>
                  <a:srgbClr val="F5F3F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,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 spc="-59" dirty="0" err="1">
                <a:solidFill>
                  <a:srgbClr val="F5F3F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productservice</a:t>
            </a:r>
            <a:r>
              <a:rPr lang="en-US" sz="3999" spc="-59" dirty="0">
                <a:solidFill>
                  <a:srgbClr val="F5F3F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 e </a:t>
            </a:r>
            <a:r>
              <a:rPr lang="en-US" sz="3999" spc="-59" dirty="0" err="1">
                <a:solidFill>
                  <a:srgbClr val="F5F3F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gestione</a:t>
            </a:r>
            <a:r>
              <a:rPr lang="en-US" sz="3999" spc="-59" dirty="0">
                <a:solidFill>
                  <a:srgbClr val="F5F3F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 hold,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 spc="-59" dirty="0">
                <a:solidFill>
                  <a:srgbClr val="F5F3F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test.</a:t>
            </a:r>
          </a:p>
          <a:p>
            <a:pPr marL="0" lvl="0" indent="0" algn="l">
              <a:lnSpc>
                <a:spcPts val="5599"/>
              </a:lnSpc>
            </a:pPr>
            <a:endParaRPr lang="en-US" sz="3999" spc="-59" dirty="0">
              <a:solidFill>
                <a:srgbClr val="F5F3F3"/>
              </a:solidFill>
              <a:latin typeface="Georgia Pro Condensed"/>
              <a:ea typeface="Georgia Pro Condensed"/>
              <a:cs typeface="Georgia Pro Condensed"/>
              <a:sym typeface="Georgia Pro Condense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3C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326275" y="1676400"/>
            <a:ext cx="11670949" cy="7381875"/>
          </a:xfrm>
          <a:custGeom>
            <a:avLst/>
            <a:gdLst/>
            <a:ahLst/>
            <a:cxnLst/>
            <a:rect l="l" t="t" r="r" b="b"/>
            <a:pathLst>
              <a:path w="11670949" h="7381875">
                <a:moveTo>
                  <a:pt x="0" y="0"/>
                </a:moveTo>
                <a:lnTo>
                  <a:pt x="11670949" y="0"/>
                </a:lnTo>
                <a:lnTo>
                  <a:pt x="11670949" y="7381875"/>
                </a:lnTo>
                <a:lnTo>
                  <a:pt x="0" y="73818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>
              <a:latin typeface="Georgia Pro Condensed" panose="020B0604020202020204" charset="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66750" y="809625"/>
            <a:ext cx="6886575" cy="1025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>
                <a:solidFill>
                  <a:srgbClr val="F5F3F3"/>
                </a:solidFill>
                <a:latin typeface="Georgia Pro Condensed" panose="020B0604020202020204" charset="0"/>
                <a:ea typeface="Georgia Pro Condensed"/>
                <a:cs typeface="Georgia Pro Condensed"/>
                <a:sym typeface="Georgia Pro Condensed"/>
              </a:rPr>
              <a:t>Sprint 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6749" y="2476500"/>
            <a:ext cx="6886575" cy="51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spc="-75" dirty="0" err="1">
                <a:solidFill>
                  <a:srgbClr val="F5F3F3"/>
                </a:solidFill>
                <a:latin typeface="Georgia Pro Condensed" panose="020B0604020202020204" charset="0"/>
                <a:ea typeface="Georgia Pro Condensed"/>
                <a:cs typeface="Georgia Pro Condensed"/>
                <a:sym typeface="Georgia Pro Condensed"/>
              </a:rPr>
              <a:t>Punti</a:t>
            </a:r>
            <a:r>
              <a:rPr lang="en-US" sz="5000" spc="-75" dirty="0">
                <a:solidFill>
                  <a:srgbClr val="F5F3F3"/>
                </a:solidFill>
                <a:latin typeface="Georgia Pro Condensed" panose="020B0604020202020204" charset="0"/>
                <a:ea typeface="Georgia Pro Condensed"/>
                <a:cs typeface="Georgia Pro Condensed"/>
                <a:sym typeface="Georgia Pro Condensed"/>
              </a:rPr>
              <a:t> </a:t>
            </a:r>
            <a:r>
              <a:rPr lang="en-US" sz="5000" spc="-75" dirty="0" err="1">
                <a:solidFill>
                  <a:srgbClr val="F5F3F3"/>
                </a:solidFill>
                <a:latin typeface="Georgia Pro Condensed" panose="020B0604020202020204" charset="0"/>
                <a:ea typeface="Georgia Pro Condensed"/>
                <a:cs typeface="Georgia Pro Condensed"/>
                <a:sym typeface="Georgia Pro Condensed"/>
              </a:rPr>
              <a:t>chiave</a:t>
            </a:r>
            <a:r>
              <a:rPr lang="en-US" sz="5000" spc="-75" dirty="0">
                <a:solidFill>
                  <a:srgbClr val="F5F3F3"/>
                </a:solidFill>
                <a:latin typeface="Georgia Pro Condensed" panose="020B0604020202020204" charset="0"/>
                <a:ea typeface="Georgia Pro Condensed"/>
                <a:cs typeface="Georgia Pro Condensed"/>
                <a:sym typeface="Georgia Pro Condensed"/>
              </a:rPr>
              <a:t>: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 spc="-59" dirty="0" err="1">
                <a:solidFill>
                  <a:srgbClr val="F5F3F3"/>
                </a:solidFill>
                <a:latin typeface="Georgia Pro Condensed" panose="020B0604020202020204" charset="0"/>
                <a:ea typeface="Georgia Pro Condensed"/>
                <a:cs typeface="Georgia Pro Condensed"/>
                <a:sym typeface="Georgia Pro Condensed"/>
              </a:rPr>
              <a:t>modellazione</a:t>
            </a:r>
            <a:r>
              <a:rPr lang="en-US" sz="3999" spc="-59" dirty="0">
                <a:solidFill>
                  <a:srgbClr val="F5F3F3"/>
                </a:solidFill>
                <a:latin typeface="Georgia Pro Condensed" panose="020B0604020202020204" charset="0"/>
                <a:ea typeface="Georgia Pro Condensed"/>
                <a:cs typeface="Georgia Pro Condensed"/>
                <a:sym typeface="Georgia Pro Condensed"/>
              </a:rPr>
              <a:t> Sensor,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 spc="-59" dirty="0">
                <a:solidFill>
                  <a:srgbClr val="F5F3F3"/>
                </a:solidFill>
                <a:latin typeface="Georgia Pro Condensed" panose="020B0604020202020204" charset="0"/>
                <a:ea typeface="Georgia Pro Condensed"/>
                <a:cs typeface="Georgia Pro Condensed"/>
                <a:sym typeface="Georgia Pro Condensed"/>
              </a:rPr>
              <a:t>sonar,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 spc="-59" dirty="0">
                <a:solidFill>
                  <a:srgbClr val="F5F3F3"/>
                </a:solidFill>
                <a:latin typeface="Georgia Pro Condensed" panose="020B0604020202020204" charset="0"/>
                <a:ea typeface="Georgia Pro Condensed"/>
                <a:cs typeface="Georgia Pro Condensed"/>
                <a:sym typeface="Georgia Pro Condensed"/>
              </a:rPr>
              <a:t>led,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 spc="-59" dirty="0">
                <a:solidFill>
                  <a:srgbClr val="F5F3F3"/>
                </a:solidFill>
                <a:latin typeface="Georgia Pro Condensed" panose="020B0604020202020204" charset="0"/>
                <a:ea typeface="Georgia Pro Condensed"/>
                <a:cs typeface="Georgia Pro Condensed"/>
                <a:sym typeface="Georgia Pro Condensed"/>
              </a:rPr>
              <a:t>test,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 spc="-59" dirty="0">
                <a:solidFill>
                  <a:srgbClr val="F5F3F3"/>
                </a:solidFill>
                <a:latin typeface="Georgia Pro Condensed" panose="020B0604020202020204" charset="0"/>
                <a:ea typeface="Georgia Pro Condensed"/>
                <a:cs typeface="Georgia Pro Condensed"/>
                <a:sym typeface="Georgia Pro Condensed"/>
              </a:rPr>
              <a:t>deployment.</a:t>
            </a:r>
          </a:p>
          <a:p>
            <a:pPr marL="0" lvl="0" indent="0" algn="l">
              <a:lnSpc>
                <a:spcPts val="5599"/>
              </a:lnSpc>
            </a:pPr>
            <a:endParaRPr lang="en-US" sz="3999" spc="-59" dirty="0">
              <a:solidFill>
                <a:srgbClr val="F5F3F3"/>
              </a:solidFill>
              <a:latin typeface="Georgia Pro Condensed" panose="020B0604020202020204" charset="0"/>
              <a:ea typeface="Georgia Pro Condensed"/>
              <a:cs typeface="Georgia Pro Condensed"/>
              <a:sym typeface="Georgia Pro Condense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3C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0"/>
            <a:ext cx="8991600" cy="3352800"/>
            <a:chOff x="0" y="0"/>
            <a:chExt cx="2368158" cy="8830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68158" cy="883042"/>
            </a:xfrm>
            <a:custGeom>
              <a:avLst/>
              <a:gdLst/>
              <a:ahLst/>
              <a:cxnLst/>
              <a:rect l="l" t="t" r="r" b="b"/>
              <a:pathLst>
                <a:path w="2368158" h="883042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273C4A"/>
            </a:solidFill>
          </p:spPr>
          <p:txBody>
            <a:bodyPr/>
            <a:lstStyle/>
            <a:p>
              <a:endParaRPr lang="it-IT">
                <a:latin typeface="Georgia Pro Condensed" panose="020B0604020202020204" charset="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>
                <a:latin typeface="Georgia Pro Condensed" panose="020B0604020202020204" charset="0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7467600" y="1202477"/>
            <a:ext cx="10025994" cy="7882045"/>
          </a:xfrm>
          <a:custGeom>
            <a:avLst/>
            <a:gdLst/>
            <a:ahLst/>
            <a:cxnLst/>
            <a:rect l="l" t="t" r="r" b="b"/>
            <a:pathLst>
              <a:path w="11273532" h="8906091">
                <a:moveTo>
                  <a:pt x="0" y="0"/>
                </a:moveTo>
                <a:lnTo>
                  <a:pt x="11273533" y="0"/>
                </a:lnTo>
                <a:lnTo>
                  <a:pt x="11273533" y="8906090"/>
                </a:lnTo>
                <a:lnTo>
                  <a:pt x="0" y="89060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>
              <a:latin typeface="Georgia Pro Condensed" panose="020B0604020202020204" charset="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66750" y="809625"/>
            <a:ext cx="6886575" cy="1025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>
                <a:solidFill>
                  <a:srgbClr val="F5F3F3"/>
                </a:solidFill>
                <a:latin typeface="Georgia Pro Condensed" panose="020B0604020202020204" charset="0"/>
                <a:ea typeface="Georgia Pro Condensed"/>
                <a:cs typeface="Georgia Pro Condensed"/>
                <a:sym typeface="Georgia Pro Condensed"/>
              </a:rPr>
              <a:t>Sprint 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6750" y="2533650"/>
            <a:ext cx="5400912" cy="2991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spc="-75" dirty="0" err="1">
                <a:solidFill>
                  <a:srgbClr val="F5F3F3"/>
                </a:solidFill>
                <a:latin typeface="Georgia Pro Condensed" panose="020B0604020202020204" charset="0"/>
                <a:ea typeface="Georgia Pro Condensed"/>
                <a:cs typeface="Georgia Pro Condensed"/>
                <a:sym typeface="Georgia Pro Condensed"/>
              </a:rPr>
              <a:t>Punti</a:t>
            </a:r>
            <a:r>
              <a:rPr lang="en-US" sz="5000" spc="-75" dirty="0">
                <a:solidFill>
                  <a:srgbClr val="F5F3F3"/>
                </a:solidFill>
                <a:latin typeface="Georgia Pro Condensed" panose="020B0604020202020204" charset="0"/>
                <a:ea typeface="Georgia Pro Condensed"/>
                <a:cs typeface="Georgia Pro Condensed"/>
                <a:sym typeface="Georgia Pro Condensed"/>
              </a:rPr>
              <a:t> </a:t>
            </a:r>
            <a:r>
              <a:rPr lang="en-US" sz="5000" spc="-75" dirty="0" err="1">
                <a:solidFill>
                  <a:srgbClr val="F5F3F3"/>
                </a:solidFill>
                <a:latin typeface="Georgia Pro Condensed" panose="020B0604020202020204" charset="0"/>
                <a:ea typeface="Georgia Pro Condensed"/>
                <a:cs typeface="Georgia Pro Condensed"/>
                <a:sym typeface="Georgia Pro Condensed"/>
              </a:rPr>
              <a:t>chiave</a:t>
            </a:r>
            <a:r>
              <a:rPr lang="en-US" sz="5000" spc="-75" dirty="0">
                <a:solidFill>
                  <a:srgbClr val="F5F3F3"/>
                </a:solidFill>
                <a:latin typeface="Georgia Pro Condensed" panose="020B0604020202020204" charset="0"/>
                <a:ea typeface="Georgia Pro Condensed"/>
                <a:cs typeface="Georgia Pro Condensed"/>
                <a:sym typeface="Georgia Pro Condensed"/>
              </a:rPr>
              <a:t>: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 spc="-59" dirty="0" err="1">
                <a:solidFill>
                  <a:srgbClr val="F5F3F3"/>
                </a:solidFill>
                <a:latin typeface="Georgia Pro Condensed" panose="020B0604020202020204" charset="0"/>
                <a:ea typeface="Georgia Pro Condensed"/>
                <a:cs typeface="Georgia Pro Condensed"/>
                <a:sym typeface="Georgia Pro Condensed"/>
              </a:rPr>
              <a:t>visualizzazione</a:t>
            </a:r>
            <a:r>
              <a:rPr lang="en-US" sz="3999" spc="-59" dirty="0">
                <a:solidFill>
                  <a:srgbClr val="F5F3F3"/>
                </a:solidFill>
                <a:latin typeface="Georgia Pro Condensed" panose="020B0604020202020204" charset="0"/>
                <a:ea typeface="Georgia Pro Condensed"/>
                <a:cs typeface="Georgia Pro Condensed"/>
                <a:sym typeface="Georgia Pro Condensed"/>
              </a:rPr>
              <a:t> </a:t>
            </a:r>
            <a:r>
              <a:rPr lang="en-US" sz="3999" spc="-59" dirty="0" err="1">
                <a:solidFill>
                  <a:srgbClr val="F5F3F3"/>
                </a:solidFill>
                <a:latin typeface="Georgia Pro Condensed" panose="020B0604020202020204" charset="0"/>
                <a:ea typeface="Georgia Pro Condensed"/>
                <a:cs typeface="Georgia Pro Condensed"/>
                <a:sym typeface="Georgia Pro Condensed"/>
              </a:rPr>
              <a:t>stato</a:t>
            </a:r>
            <a:r>
              <a:rPr lang="en-US" sz="3999" spc="-59" dirty="0">
                <a:solidFill>
                  <a:srgbClr val="F5F3F3"/>
                </a:solidFill>
                <a:latin typeface="Georgia Pro Condensed" panose="020B0604020202020204" charset="0"/>
                <a:ea typeface="Georgia Pro Condensed"/>
                <a:cs typeface="Georgia Pro Condensed"/>
                <a:sym typeface="Georgia Pro Condensed"/>
              </a:rPr>
              <a:t> hold.</a:t>
            </a:r>
          </a:p>
          <a:p>
            <a:pPr marL="0" lvl="0" indent="0" algn="l">
              <a:lnSpc>
                <a:spcPts val="5599"/>
              </a:lnSpc>
            </a:pPr>
            <a:endParaRPr lang="en-US" sz="3999" spc="-59" dirty="0">
              <a:solidFill>
                <a:srgbClr val="F5F3F3"/>
              </a:solidFill>
              <a:latin typeface="Georgia Pro Condensed" panose="020B0604020202020204" charset="0"/>
              <a:ea typeface="Georgia Pro Condensed"/>
              <a:cs typeface="Georgia Pro Condensed"/>
              <a:sym typeface="Georgia Pro Condensed"/>
            </a:endParaRPr>
          </a:p>
        </p:txBody>
      </p:sp>
      <p:pic>
        <p:nvPicPr>
          <p:cNvPr id="9" name="Immagine 8" descr="Immagine che contiene testo, schermata, software, schermo&#10;&#10;Il contenuto generato dall'IA potrebbe non essere corretto.">
            <a:extLst>
              <a:ext uri="{FF2B5EF4-FFF2-40B4-BE49-F238E27FC236}">
                <a16:creationId xmlns:a16="http://schemas.microsoft.com/office/drawing/2014/main" id="{E069F4AE-1B14-A7BB-EBA5-FF4507F50D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993" y="5333669"/>
            <a:ext cx="6676973" cy="37766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858125" cy="10287000"/>
            <a:chOff x="0" y="0"/>
            <a:chExt cx="1031988" cy="13509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1988" cy="1350966"/>
            </a:xfrm>
            <a:custGeom>
              <a:avLst/>
              <a:gdLst/>
              <a:ahLst/>
              <a:cxnLst/>
              <a:rect l="l" t="t" r="r" b="b"/>
              <a:pathLst>
                <a:path w="1031988" h="1350966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4A90D9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52512" y="666750"/>
            <a:ext cx="5753100" cy="8953500"/>
            <a:chOff x="0" y="0"/>
            <a:chExt cx="814724" cy="12679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4724" cy="1267949"/>
            </a:xfrm>
            <a:custGeom>
              <a:avLst/>
              <a:gdLst/>
              <a:ahLst/>
              <a:cxnLst/>
              <a:rect l="l" t="t" r="r" b="b"/>
              <a:pathLst>
                <a:path w="814724" h="1267949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t="-199" b="-199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332024" y="4282046"/>
            <a:ext cx="8317491" cy="1999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956"/>
              </a:lnSpc>
            </a:pPr>
            <a:r>
              <a:rPr lang="en-US" sz="14956" spc="-523" dirty="0">
                <a:solidFill>
                  <a:srgbClr val="F5F3F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Grazie!</a:t>
            </a:r>
          </a:p>
        </p:txBody>
      </p:sp>
      <p:sp>
        <p:nvSpPr>
          <p:cNvPr id="7" name="Freeform 7"/>
          <p:cNvSpPr/>
          <p:nvPr/>
        </p:nvSpPr>
        <p:spPr>
          <a:xfrm rot="-3117037">
            <a:off x="5418783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163</Words>
  <Application>Microsoft Office PowerPoint</Application>
  <PresentationFormat>Personalizzato</PresentationFormat>
  <Paragraphs>54</Paragraphs>
  <Slides>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1" baseType="lpstr">
      <vt:lpstr>Arial</vt:lpstr>
      <vt:lpstr>Georgia Pro Condensed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Identificazione degli obiettivi di progetto</dc:title>
  <cp:lastModifiedBy>Andrea Fasano - andrea.fasano3@studio.unibo.it</cp:lastModifiedBy>
  <cp:revision>5</cp:revision>
  <dcterms:created xsi:type="dcterms:W3CDTF">2006-08-16T00:00:00Z</dcterms:created>
  <dcterms:modified xsi:type="dcterms:W3CDTF">2025-11-24T17:00:24Z</dcterms:modified>
  <dc:identifier>DAG5mr3ZiBA</dc:identifier>
</cp:coreProperties>
</file>